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2C8A55-1901-AB74-D62A-B79CB8F05C2D}" v="7" dt="2025-11-19T10:22:20.257"/>
    <p1510:client id="{42847DB5-D90D-5297-F0DD-158304B95208}" v="11" dt="2025-11-19T10:21:25.526"/>
    <p1510:client id="{92D1F78E-A9E3-AF08-1917-8D963423784B}" v="255" dt="2025-11-19T10:55:42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B7929-1324-4E45-81E3-F72F5D351128}" type="datetimeFigureOut">
              <a:rPr lang="pt-PT" smtClean="0"/>
              <a:t>23/11/2025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6CDCEF-EECE-463E-BCDE-112BD4CDC19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860187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962A1-5326-4683-AE13-C0B0646CFB1A}" type="datetimeFigureOut">
              <a:rPr lang="pt-PT" smtClean="0"/>
              <a:t>23/11/2025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F1B2A-F150-44BF-B48D-162B5AEA83E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90903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DF1B2A-F150-44BF-B48D-162B5AEA83EE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69622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5118-B5BC-437C-B1E7-16A8873EEC77}" type="datetime1">
              <a:rPr lang="pt-PT" smtClean="0"/>
              <a:t>23/11/2025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536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3854A-AC0C-43A3-B7E3-60ABF284E1AA}" type="datetime1">
              <a:rPr lang="pt-PT" smtClean="0"/>
              <a:t>23/11/2025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05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B1E88-6AFE-4627-AD23-763975AA760B}" type="datetime1">
              <a:rPr lang="pt-PT" smtClean="0"/>
              <a:t>23/11/2025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462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C9A9F-BDB3-4928-A873-CB42A300634D}" type="datetime1">
              <a:rPr lang="pt-PT" smtClean="0"/>
              <a:t>23/11/2025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642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0B6-1388-4B84-8AB5-93AE561A8B44}" type="datetime1">
              <a:rPr lang="pt-PT" smtClean="0"/>
              <a:t>23/11/2025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914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11C6-12AF-4D8D-9FD1-DEA6323918E1}" type="datetime1">
              <a:rPr lang="pt-PT" smtClean="0"/>
              <a:t>23/11/2025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5507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4DD1-66E8-4F79-B814-3D65FD38D535}" type="datetime1">
              <a:rPr lang="pt-PT" smtClean="0"/>
              <a:t>23/11/2025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993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73E6-9B4E-4964-A441-22C1A90D0112}" type="datetime1">
              <a:rPr lang="pt-PT" smtClean="0"/>
              <a:t>23/11/2025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916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2CFA1-C1EF-4D0E-B0E5-69E3928F9473}" type="datetime1">
              <a:rPr lang="pt-PT" smtClean="0"/>
              <a:t>23/11/2025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066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CAB90-20F9-4676-94F4-F28F6AEBD8C4}" type="datetime1">
              <a:rPr lang="pt-PT" smtClean="0"/>
              <a:t>23/11/2025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251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77CB8-9F13-43DB-9CD1-B49C81DDCA69}" type="datetime1">
              <a:rPr lang="pt-PT" smtClean="0"/>
              <a:t>23/11/2025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51718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5F410F-824F-413A-A149-33915F5C6990}" type="datetime1">
              <a:rPr lang="pt-PT" smtClean="0"/>
              <a:t>23/11/2025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206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williamhill.com/casino-guides/blackjack-insurance/" TargetMode="External"/><Relationship Id="rId2" Type="http://schemas.openxmlformats.org/officeDocument/2006/relationships/hyperlink" Target="https://en.wikipedia.org/wiki/Blackjac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0B6C1842-D59A-CAC7-9379-02DFEABBCBD1}"/>
              </a:ext>
            </a:extLst>
          </p:cNvPr>
          <p:cNvSpPr txBox="1"/>
          <p:nvPr/>
        </p:nvSpPr>
        <p:spPr>
          <a:xfrm>
            <a:off x="2871157" y="518725"/>
            <a:ext cx="666174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sz="9600" dirty="0">
                <a:solidFill>
                  <a:schemeClr val="accent3">
                    <a:lumMod val="20000"/>
                    <a:lumOff val="80000"/>
                  </a:schemeClr>
                </a:solidFill>
                <a:latin typeface="Bauhaus 93" panose="04030905020B02020C02" pitchFamily="82" charset="0"/>
                <a:ea typeface="STHupo"/>
              </a:rPr>
              <a:t>BLACKJACK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BD078AE7-4958-DCDC-1853-122F38A6848B}"/>
              </a:ext>
            </a:extLst>
          </p:cNvPr>
          <p:cNvSpPr txBox="1"/>
          <p:nvPr/>
        </p:nvSpPr>
        <p:spPr>
          <a:xfrm>
            <a:off x="4338406" y="334059"/>
            <a:ext cx="37272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>
                <a:solidFill>
                  <a:srgbClr val="FFFFFF"/>
                </a:solidFill>
                <a:latin typeface="Arial Rounded MT Bold"/>
                <a:ea typeface="ADLaM Display"/>
                <a:cs typeface="ADLaM Display"/>
              </a:rPr>
              <a:t>Relatório jogo em JavaScript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E7C56671-60A6-5F38-C8B3-A3ACBE6F5A60}"/>
              </a:ext>
            </a:extLst>
          </p:cNvPr>
          <p:cNvSpPr txBox="1"/>
          <p:nvPr/>
        </p:nvSpPr>
        <p:spPr>
          <a:xfrm>
            <a:off x="2952283" y="6488668"/>
            <a:ext cx="64994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>
                <a:solidFill>
                  <a:srgbClr val="FFFFFF"/>
                </a:solidFill>
                <a:latin typeface="Bahnschrift"/>
                <a:cs typeface="Aharoni"/>
              </a:rPr>
              <a:t>Trabalho realizado por : Rodrigo Santos Costa nº16986 11IF</a:t>
            </a:r>
          </a:p>
        </p:txBody>
      </p:sp>
    </p:spTree>
    <p:extLst>
      <p:ext uri="{BB962C8B-B14F-4D97-AF65-F5344CB8AC3E}">
        <p14:creationId xmlns:p14="http://schemas.microsoft.com/office/powerpoint/2010/main" val="103439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dirty="0" smtClean="0"/>
              <a:t>1</a:t>
            </a:r>
            <a:endParaRPr lang="pt-PT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0B6C1842-D59A-CAC7-9379-02DFEABBCBD1}"/>
              </a:ext>
            </a:extLst>
          </p:cNvPr>
          <p:cNvSpPr txBox="1"/>
          <p:nvPr/>
        </p:nvSpPr>
        <p:spPr>
          <a:xfrm>
            <a:off x="4559137" y="-139478"/>
            <a:ext cx="246037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dirty="0" err="1" smtClean="0">
                <a:solidFill>
                  <a:schemeClr val="accent6">
                    <a:lumMod val="40000"/>
                    <a:lumOff val="60000"/>
                  </a:schemeClr>
                </a:solidFill>
                <a:latin typeface="Haettenschweiler" panose="020B0706040902060204" pitchFamily="34" charset="0"/>
                <a:ea typeface="STHupo"/>
              </a:rPr>
              <a:t>Índice</a:t>
            </a:r>
            <a:endParaRPr lang="pt-PT" sz="9600" dirty="0">
              <a:solidFill>
                <a:schemeClr val="accent6">
                  <a:lumMod val="40000"/>
                  <a:lumOff val="60000"/>
                </a:schemeClr>
              </a:solidFill>
              <a:latin typeface="Haettenschweiler" panose="020B0706040902060204" pitchFamily="34" charset="0"/>
              <a:ea typeface="STHupo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763676" y="1430182"/>
            <a:ext cx="10590124" cy="424731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hlinkClick r:id="rId3" action="ppaction://hlinksldjump"/>
              </a:rPr>
              <a:t>O </a:t>
            </a:r>
            <a:r>
              <a:rPr lang="en-US" sz="5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hlinkClick r:id="rId3" action="ppaction://hlinksldjump"/>
              </a:rPr>
              <a:t>que</a:t>
            </a:r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hlinkClick r:id="rId3" action="ppaction://hlinksldjump"/>
              </a:rPr>
              <a:t> é Blackjack?				</a:t>
            </a:r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hlinkClick r:id="rId3" action="ppaction://hlinksldjump"/>
              </a:rPr>
              <a:t>2</a:t>
            </a:r>
            <a:endParaRPr lang="en-US" sz="54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hlinkClick r:id="rId4" action="ppaction://hlinksldjump"/>
              </a:rPr>
              <a:t>Como </a:t>
            </a:r>
            <a:r>
              <a:rPr lang="en-US" sz="5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hlinkClick r:id="rId4" action="ppaction://hlinksldjump"/>
              </a:rPr>
              <a:t>tenciono</a:t>
            </a:r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hlinkClick r:id="rId4" action="ppaction://hlinksldjump"/>
              </a:rPr>
              <a:t> </a:t>
            </a:r>
            <a:r>
              <a:rPr lang="en-US" sz="5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hlinkClick r:id="rId4" action="ppaction://hlinksldjump"/>
              </a:rPr>
              <a:t>implementar</a:t>
            </a:r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hlinkClick r:id="rId4" action="ppaction://hlinksldjump"/>
              </a:rPr>
              <a:t>	4</a:t>
            </a:r>
            <a:endParaRPr lang="en-US" sz="54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hlinkClick r:id="rId5" action="ppaction://hlinksldjump"/>
              </a:rPr>
              <a:t>Resultados e </a:t>
            </a:r>
            <a:r>
              <a:rPr lang="en-US" sz="5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hlinkClick r:id="rId5" action="ppaction://hlinksldjump"/>
              </a:rPr>
              <a:t>dificuldades</a:t>
            </a:r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hlinkClick r:id="rId5" action="ppaction://hlinksldjump"/>
              </a:rPr>
              <a:t>		5 </a:t>
            </a:r>
            <a:r>
              <a:rPr lang="en-US" sz="5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hlinkClick r:id="rId5" action="ppaction://hlinksldjump"/>
              </a:rPr>
              <a:t>esperadas</a:t>
            </a:r>
            <a:endParaRPr lang="en-US" sz="54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  <a:hlinkClick r:id="rId6" action="ppaction://hlinksldjump"/>
              </a:rPr>
              <a:t>Bibliografia						6</a:t>
            </a:r>
            <a:endParaRPr lang="pt-PT" sz="54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012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0B6C1842-D59A-CAC7-9379-02DFEABBCBD1}"/>
              </a:ext>
            </a:extLst>
          </p:cNvPr>
          <p:cNvSpPr txBox="1"/>
          <p:nvPr/>
        </p:nvSpPr>
        <p:spPr>
          <a:xfrm>
            <a:off x="0" y="-276046"/>
            <a:ext cx="712428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Haettenschweiler" panose="020B0706040902060204" pitchFamily="34" charset="0"/>
                <a:ea typeface="STHupo"/>
              </a:rPr>
              <a:t>O </a:t>
            </a:r>
            <a:r>
              <a:rPr lang="en-US" sz="96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Haettenschweiler" panose="020B0706040902060204" pitchFamily="34" charset="0"/>
                <a:ea typeface="STHupo"/>
              </a:rPr>
              <a:t>que</a:t>
            </a:r>
            <a:r>
              <a:rPr lang="en-US" sz="96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Haettenschweiler" panose="020B0706040902060204" pitchFamily="34" charset="0"/>
                <a:ea typeface="STHupo"/>
              </a:rPr>
              <a:t> é Blackjack?</a:t>
            </a:r>
            <a:endParaRPr lang="pt-PT" sz="9600" dirty="0">
              <a:solidFill>
                <a:schemeClr val="accent3">
                  <a:lumMod val="40000"/>
                  <a:lumOff val="60000"/>
                </a:schemeClr>
              </a:solidFill>
              <a:latin typeface="Haettenschweiler" panose="020B0706040902060204" pitchFamily="34" charset="0"/>
              <a:ea typeface="STHupo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432078" y="1207346"/>
            <a:ext cx="1135160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Bahnschrift" panose="020B0502040204020203" pitchFamily="34" charset="0"/>
              </a:rPr>
              <a:t>Blackjack é um </a:t>
            </a:r>
            <a:r>
              <a:rPr lang="en-US" sz="2400" dirty="0" err="1" smtClean="0">
                <a:latin typeface="Bahnschrift" panose="020B0502040204020203" pitchFamily="34" charset="0"/>
              </a:rPr>
              <a:t>jogo</a:t>
            </a:r>
            <a:r>
              <a:rPr lang="en-US" sz="2400" dirty="0" smtClean="0">
                <a:latin typeface="Bahnschrift" panose="020B0502040204020203" pitchFamily="34" charset="0"/>
              </a:rPr>
              <a:t> de </a:t>
            </a:r>
            <a:r>
              <a:rPr lang="en-US" sz="2400" dirty="0" err="1" smtClean="0">
                <a:latin typeface="Bahnschrift" panose="020B0502040204020203" pitchFamily="34" charset="0"/>
              </a:rPr>
              <a:t>apostas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que</a:t>
            </a:r>
            <a:r>
              <a:rPr lang="en-US" sz="2400" dirty="0" smtClean="0">
                <a:latin typeface="Bahnschrift" panose="020B0502040204020203" pitchFamily="34" charset="0"/>
              </a:rPr>
              <a:t> se </a:t>
            </a:r>
            <a:r>
              <a:rPr lang="en-US" sz="2400" dirty="0" err="1" smtClean="0">
                <a:latin typeface="Bahnschrift" panose="020B0502040204020203" pitchFamily="34" charset="0"/>
              </a:rPr>
              <a:t>posiciona</a:t>
            </a:r>
            <a:r>
              <a:rPr lang="en-US" sz="2400" dirty="0" smtClean="0">
                <a:latin typeface="Bahnschrift" panose="020B0502040204020203" pitchFamily="34" charset="0"/>
              </a:rPr>
              <a:t> entre </a:t>
            </a:r>
            <a:r>
              <a:rPr lang="en-US" sz="2400" dirty="0" err="1" smtClean="0">
                <a:latin typeface="Bahnschrift" panose="020B0502040204020203" pitchFamily="34" charset="0"/>
              </a:rPr>
              <a:t>os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mais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populares</a:t>
            </a:r>
            <a:r>
              <a:rPr lang="en-US" sz="2400" dirty="0" smtClean="0">
                <a:latin typeface="Bahnschrift" panose="020B0502040204020203" pitchFamily="34" charset="0"/>
              </a:rPr>
              <a:t> do </a:t>
            </a:r>
            <a:r>
              <a:rPr lang="en-US" sz="2400" dirty="0" err="1" smtClean="0">
                <a:latin typeface="Bahnschrift" panose="020B0502040204020203" pitchFamily="34" charset="0"/>
              </a:rPr>
              <a:t>mundo</a:t>
            </a:r>
            <a:r>
              <a:rPr lang="en-US" sz="2400" dirty="0" smtClean="0">
                <a:latin typeface="Bahnschrift" panose="020B0502040204020203" pitchFamily="34" charset="0"/>
              </a:rPr>
              <a:t>. </a:t>
            </a:r>
            <a:r>
              <a:rPr lang="pt-PT" sz="2400" dirty="0" smtClean="0">
                <a:latin typeface="Bahnschrift" panose="020B0502040204020203" pitchFamily="34" charset="0"/>
              </a:rPr>
              <a:t>Para jogar é normalmente necessário um baralho de cartas completo(52 cartas) e pelo menos 2 jogadores. Um dos jogadores distribuirá as cartas e o prémio do vencedor e este será designado de dealer/casa/banco, os restantes jogarão normalmente. Numa partida de </a:t>
            </a:r>
            <a:r>
              <a:rPr lang="pt-PT" sz="2400" dirty="0" err="1">
                <a:latin typeface="Bahnschrift" panose="020B0502040204020203" pitchFamily="34" charset="0"/>
              </a:rPr>
              <a:t>B</a:t>
            </a:r>
            <a:r>
              <a:rPr lang="pt-PT" sz="2400" dirty="0" err="1" smtClean="0">
                <a:latin typeface="Bahnschrift" panose="020B0502040204020203" pitchFamily="34" charset="0"/>
              </a:rPr>
              <a:t>lackjack</a:t>
            </a:r>
            <a:r>
              <a:rPr lang="pt-PT" sz="2400" dirty="0" smtClean="0">
                <a:latin typeface="Bahnschrift" panose="020B0502040204020203" pitchFamily="34" charset="0"/>
              </a:rPr>
              <a:t> o objetivo dos jogadores é aproximarem-se o máximo de 21 sem o ultrapassar, no caso do jogador que fica a controlar a mesa o seu objetivo é impedir a vitória dos outros ao ter uma pontuação superior que também não ultrapasse 21. Caso o dealer ultrapasse o limite de 21 pontos todos os jogadores que não ultrapassaram também o limite ganham. Algumas outras regras do </a:t>
            </a:r>
            <a:r>
              <a:rPr lang="pt-PT" sz="2400" dirty="0" err="1" smtClean="0">
                <a:latin typeface="Bahnschrift" panose="020B0502040204020203" pitchFamily="34" charset="0"/>
              </a:rPr>
              <a:t>Blackjack</a:t>
            </a:r>
            <a:r>
              <a:rPr lang="pt-PT" sz="2400" dirty="0" smtClean="0">
                <a:latin typeface="Bahnschrift" panose="020B0502040204020203" pitchFamily="34" charset="0"/>
              </a:rPr>
              <a:t> são que a realeza(rei, dama, valete) valem 10 pontos cada ,o ás vale 1 ou 11 pontos, quando o dealer tem um total de pontos menor que 17 é obrigado a pegar uma carta e quando tem 17 este não pode pegar mais nenhuma carta. No início de cada rodada cada jogador coloca a sua aposta</a:t>
            </a:r>
            <a:r>
              <a:rPr lang="pt-PT" sz="2400" dirty="0">
                <a:latin typeface="Bahnschrift" panose="020B0502040204020203" pitchFamily="34" charset="0"/>
              </a:rPr>
              <a:t>(exceto o dealer</a:t>
            </a:r>
            <a:r>
              <a:rPr lang="pt-PT" sz="2400" dirty="0" smtClean="0">
                <a:latin typeface="Bahnschrift" panose="020B0502040204020203" pitchFamily="34" charset="0"/>
              </a:rPr>
              <a:t>) e recebe 2 cartas sendo que o dealer só revela uma das suas aos restantes jogadores.</a:t>
            </a:r>
          </a:p>
        </p:txBody>
      </p:sp>
    </p:spTree>
    <p:extLst>
      <p:ext uri="{BB962C8B-B14F-4D97-AF65-F5344CB8AC3E}">
        <p14:creationId xmlns:p14="http://schemas.microsoft.com/office/powerpoint/2010/main" val="1680532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0B6C1842-D59A-CAC7-9379-02DFEABBCBD1}"/>
              </a:ext>
            </a:extLst>
          </p:cNvPr>
          <p:cNvSpPr txBox="1"/>
          <p:nvPr/>
        </p:nvSpPr>
        <p:spPr>
          <a:xfrm>
            <a:off x="0" y="-276046"/>
            <a:ext cx="712428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Haettenschweiler" panose="020B0706040902060204" pitchFamily="34" charset="0"/>
                <a:ea typeface="STHupo"/>
              </a:rPr>
              <a:t>O </a:t>
            </a:r>
            <a:r>
              <a:rPr lang="en-US" sz="9600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Haettenschweiler" panose="020B0706040902060204" pitchFamily="34" charset="0"/>
                <a:ea typeface="STHupo"/>
              </a:rPr>
              <a:t>que</a:t>
            </a:r>
            <a:r>
              <a:rPr lang="en-US" sz="96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Haettenschweiler" panose="020B0706040902060204" pitchFamily="34" charset="0"/>
                <a:ea typeface="STHupo"/>
              </a:rPr>
              <a:t> é Blackjack?</a:t>
            </a:r>
            <a:endParaRPr lang="pt-PT" sz="9600" dirty="0">
              <a:solidFill>
                <a:schemeClr val="accent6">
                  <a:lumMod val="60000"/>
                  <a:lumOff val="40000"/>
                </a:schemeClr>
              </a:solidFill>
              <a:latin typeface="Haettenschweiler" panose="020B0706040902060204" pitchFamily="34" charset="0"/>
              <a:ea typeface="STHupo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432078" y="1207346"/>
            <a:ext cx="1132449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>
                <a:latin typeface="Bahnschrift" panose="020B0502040204020203" pitchFamily="34" charset="0"/>
              </a:rPr>
              <a:t>Tanto as cartas coma as ações são realizadas no sentido horário começando na esquerda do dealer. Cada jogador pode pedir mais uma carta(hit), finalizar a jogada(stand), duplicar a sua aposta inicial e pegar apenas uma carta a mais(</a:t>
            </a:r>
            <a:r>
              <a:rPr lang="pt-PT" sz="2400" dirty="0" err="1">
                <a:latin typeface="Bahnschrift" panose="020B0502040204020203" pitchFamily="34" charset="0"/>
              </a:rPr>
              <a:t>double</a:t>
            </a:r>
            <a:r>
              <a:rPr lang="pt-PT" sz="2400" dirty="0">
                <a:latin typeface="Bahnschrift" panose="020B0502040204020203" pitchFamily="34" charset="0"/>
              </a:rPr>
              <a:t> </a:t>
            </a:r>
            <a:r>
              <a:rPr lang="pt-PT" sz="2400" dirty="0" err="1">
                <a:latin typeface="Bahnschrift" panose="020B0502040204020203" pitchFamily="34" charset="0"/>
              </a:rPr>
              <a:t>down</a:t>
            </a:r>
            <a:r>
              <a:rPr lang="pt-PT" sz="2400" dirty="0">
                <a:latin typeface="Bahnschrift" panose="020B0502040204020203" pitchFamily="34" charset="0"/>
              </a:rPr>
              <a:t>), dividir as suas cartas em duas jogadas diferentes(só é possível se ambas as cartas forem iguais)(</a:t>
            </a:r>
            <a:r>
              <a:rPr lang="pt-PT" sz="2400" dirty="0" err="1">
                <a:latin typeface="Bahnschrift" panose="020B0502040204020203" pitchFamily="34" charset="0"/>
              </a:rPr>
              <a:t>split</a:t>
            </a:r>
            <a:r>
              <a:rPr lang="pt-PT" sz="2400" dirty="0">
                <a:latin typeface="Bahnschrift" panose="020B0502040204020203" pitchFamily="34" charset="0"/>
              </a:rPr>
              <a:t>) e em alguns casinos desistir. No caso da carta que o dealer revelou ser um ás os outros jogadores podem colocar uma outra aposta(máximo de metade da sua aposta original) para o caso do dealer ter a combinação mais poderosa nomeada de </a:t>
            </a:r>
            <a:r>
              <a:rPr lang="pt-PT" sz="2400" dirty="0" err="1">
                <a:latin typeface="Bahnschrift" panose="020B0502040204020203" pitchFamily="34" charset="0"/>
              </a:rPr>
              <a:t>blackjack</a:t>
            </a:r>
            <a:r>
              <a:rPr lang="pt-PT" sz="2400" dirty="0">
                <a:latin typeface="Bahnschrift" panose="020B0502040204020203" pitchFamily="34" charset="0"/>
              </a:rPr>
              <a:t>(21 com duas cartas, ex. ás e 10 ) esta aposta só é ganha se o dealer realmente tiver </a:t>
            </a:r>
            <a:r>
              <a:rPr lang="pt-PT" sz="2400" dirty="0" err="1">
                <a:latin typeface="Bahnschrift" panose="020B0502040204020203" pitchFamily="34" charset="0"/>
              </a:rPr>
              <a:t>blackjack</a:t>
            </a:r>
            <a:r>
              <a:rPr lang="pt-PT" sz="2400" dirty="0">
                <a:latin typeface="Bahnschrift" panose="020B0502040204020203" pitchFamily="34" charset="0"/>
              </a:rPr>
              <a:t> é pago o dobro do montante apostado. Quando a rodada acaba os jogadores que ganharam são pagos 1.5X aquilo que apostaram, os jogadores que acabarem com a mesma pontuação que o dealer terão a sua aposta devolvida. Com isto temos uma generalização e simplificação das regras que são encontradas em jogos de </a:t>
            </a:r>
            <a:r>
              <a:rPr lang="pt-PT" sz="2400" dirty="0" err="1">
                <a:latin typeface="Bahnschrift" panose="020B0502040204020203" pitchFamily="34" charset="0"/>
              </a:rPr>
              <a:t>blackjack</a:t>
            </a:r>
            <a:r>
              <a:rPr lang="pt-PT" sz="2400" dirty="0">
                <a:latin typeface="Bahnschrift" panose="020B0502040204020203" pitchFamily="34" charset="0"/>
              </a:rPr>
              <a:t> profissionais.</a:t>
            </a:r>
          </a:p>
        </p:txBody>
      </p:sp>
    </p:spTree>
    <p:extLst>
      <p:ext uri="{BB962C8B-B14F-4D97-AF65-F5344CB8AC3E}">
        <p14:creationId xmlns:p14="http://schemas.microsoft.com/office/powerpoint/2010/main" val="878212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0B6C1842-D59A-CAC7-9379-02DFEABBCBD1}"/>
              </a:ext>
            </a:extLst>
          </p:cNvPr>
          <p:cNvSpPr txBox="1"/>
          <p:nvPr/>
        </p:nvSpPr>
        <p:spPr>
          <a:xfrm>
            <a:off x="0" y="-276046"/>
            <a:ext cx="1121434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Haettenschweiler" panose="020B0706040902060204" pitchFamily="34" charset="0"/>
                <a:ea typeface="STHupo"/>
              </a:rPr>
              <a:t>Como </a:t>
            </a:r>
            <a:r>
              <a:rPr lang="en-US" sz="96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Haettenschweiler" panose="020B0706040902060204" pitchFamily="34" charset="0"/>
                <a:ea typeface="STHupo"/>
              </a:rPr>
              <a:t>tenciono</a:t>
            </a:r>
            <a:r>
              <a:rPr lang="en-US" sz="96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Haettenschweiler" panose="020B0706040902060204" pitchFamily="34" charset="0"/>
                <a:ea typeface="STHupo"/>
              </a:rPr>
              <a:t> </a:t>
            </a:r>
            <a:r>
              <a:rPr lang="en-US" sz="96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Haettenschweiler" panose="020B0706040902060204" pitchFamily="34" charset="0"/>
                <a:ea typeface="STHupo"/>
              </a:rPr>
              <a:t>implementar</a:t>
            </a:r>
            <a:r>
              <a:rPr lang="en-US" sz="96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Haettenschweiler" panose="020B0706040902060204" pitchFamily="34" charset="0"/>
                <a:ea typeface="STHupo"/>
              </a:rPr>
              <a:t>?</a:t>
            </a:r>
            <a:endParaRPr lang="pt-PT" sz="9600" dirty="0">
              <a:solidFill>
                <a:schemeClr val="accent3">
                  <a:lumMod val="60000"/>
                  <a:lumOff val="40000"/>
                </a:schemeClr>
              </a:solidFill>
              <a:latin typeface="Haettenschweiler" panose="020B0706040902060204" pitchFamily="34" charset="0"/>
              <a:ea typeface="STHupo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432078" y="1207346"/>
            <a:ext cx="1132449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Bahnschrift" panose="020B0502040204020203" pitchFamily="34" charset="0"/>
              </a:rPr>
              <a:t>Na realização </a:t>
            </a:r>
            <a:r>
              <a:rPr lang="en-US" sz="2400" dirty="0" err="1" smtClean="0">
                <a:latin typeface="Bahnschrift" panose="020B0502040204020203" pitchFamily="34" charset="0"/>
              </a:rPr>
              <a:t>deste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projeto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tenciono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adicionar</a:t>
            </a:r>
            <a:r>
              <a:rPr lang="en-US" sz="2400" dirty="0" smtClean="0">
                <a:latin typeface="Bahnschrift" panose="020B0502040204020203" pitchFamily="34" charset="0"/>
              </a:rPr>
              <a:t> as </a:t>
            </a:r>
            <a:r>
              <a:rPr lang="en-US" sz="2400" dirty="0" err="1" smtClean="0">
                <a:latin typeface="Bahnschrift" panose="020B0502040204020203" pitchFamily="34" charset="0"/>
              </a:rPr>
              <a:t>funcionalidades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principais</a:t>
            </a:r>
            <a:r>
              <a:rPr lang="en-US" sz="2400" dirty="0" smtClean="0">
                <a:latin typeface="Bahnschrift" panose="020B0502040204020203" pitchFamily="34" charset="0"/>
              </a:rPr>
              <a:t>, </a:t>
            </a:r>
            <a:r>
              <a:rPr lang="en-US" sz="2400" dirty="0" err="1" smtClean="0">
                <a:latin typeface="Bahnschrift" panose="020B0502040204020203" pitchFamily="34" charset="0"/>
              </a:rPr>
              <a:t>ou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seja</a:t>
            </a:r>
            <a:r>
              <a:rPr lang="en-US" sz="2400" dirty="0">
                <a:latin typeface="Bahnschrift" panose="020B0502040204020203" pitchFamily="34" charset="0"/>
              </a:rPr>
              <a:t>,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distribuição</a:t>
            </a:r>
            <a:r>
              <a:rPr lang="en-US" sz="2400" dirty="0" smtClean="0">
                <a:latin typeface="Bahnschrift" panose="020B0502040204020203" pitchFamily="34" charset="0"/>
              </a:rPr>
              <a:t> de </a:t>
            </a:r>
            <a:r>
              <a:rPr lang="en-US" sz="2400" dirty="0" err="1" smtClean="0">
                <a:latin typeface="Bahnschrift" panose="020B0502040204020203" pitchFamily="34" charset="0"/>
              </a:rPr>
              <a:t>cartas</a:t>
            </a:r>
            <a:r>
              <a:rPr lang="en-US" sz="2400" dirty="0" smtClean="0">
                <a:latin typeface="Bahnschrift" panose="020B0502040204020203" pitchFamily="34" charset="0"/>
              </a:rPr>
              <a:t> para </a:t>
            </a:r>
            <a:r>
              <a:rPr lang="en-US" sz="2400" dirty="0" err="1" smtClean="0">
                <a:latin typeface="Bahnschrift" panose="020B0502040204020203" pitchFamily="34" charset="0"/>
              </a:rPr>
              <a:t>jogador</a:t>
            </a:r>
            <a:r>
              <a:rPr lang="en-US" sz="2400" dirty="0" smtClean="0">
                <a:latin typeface="Bahnschrift" panose="020B0502040204020203" pitchFamily="34" charset="0"/>
              </a:rPr>
              <a:t> e para o dealer, </a:t>
            </a:r>
            <a:r>
              <a:rPr lang="en-US" sz="2400" dirty="0" err="1" smtClean="0">
                <a:latin typeface="Bahnschrift" panose="020B0502040204020203" pitchFamily="34" charset="0"/>
              </a:rPr>
              <a:t>ações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básicas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como</a:t>
            </a:r>
            <a:r>
              <a:rPr lang="en-US" sz="2400" dirty="0" smtClean="0">
                <a:latin typeface="Bahnschrift" panose="020B0502040204020203" pitchFamily="34" charset="0"/>
              </a:rPr>
              <a:t> hit, stand ,split e double down, . </a:t>
            </a:r>
            <a:r>
              <a:rPr lang="en-US" sz="2400" dirty="0" err="1" smtClean="0">
                <a:latin typeface="Bahnschrift" panose="020B0502040204020203" pitchFamily="34" charset="0"/>
              </a:rPr>
              <a:t>Tenciono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também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adicionar</a:t>
            </a:r>
            <a:r>
              <a:rPr lang="en-US" sz="2400" dirty="0" smtClean="0">
                <a:latin typeface="Bahnschrift" panose="020B0502040204020203" pitchFamily="34" charset="0"/>
              </a:rPr>
              <a:t> um </a:t>
            </a:r>
            <a:r>
              <a:rPr lang="en-US" sz="2400" dirty="0" err="1" smtClean="0">
                <a:latin typeface="Bahnschrift" panose="020B0502040204020203" pitchFamily="34" charset="0"/>
              </a:rPr>
              <a:t>livro</a:t>
            </a:r>
            <a:r>
              <a:rPr lang="en-US" sz="2400" dirty="0" smtClean="0">
                <a:latin typeface="Bahnschrift" panose="020B0502040204020203" pitchFamily="34" charset="0"/>
              </a:rPr>
              <a:t> de </a:t>
            </a:r>
            <a:r>
              <a:rPr lang="en-US" sz="2400" dirty="0" err="1" smtClean="0">
                <a:latin typeface="Bahnschrift" panose="020B0502040204020203" pitchFamily="34" charset="0"/>
              </a:rPr>
              <a:t>regras</a:t>
            </a:r>
            <a:r>
              <a:rPr lang="en-US" sz="2400" dirty="0" smtClean="0">
                <a:latin typeface="Bahnschrift" panose="020B0502040204020203" pitchFamily="34" charset="0"/>
              </a:rPr>
              <a:t> e </a:t>
            </a:r>
            <a:r>
              <a:rPr lang="en-US" sz="2400" dirty="0" err="1" smtClean="0">
                <a:latin typeface="Bahnschrift" panose="020B0502040204020203" pitchFamily="34" charset="0"/>
              </a:rPr>
              <a:t>uma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tabela</a:t>
            </a:r>
            <a:r>
              <a:rPr lang="en-US" sz="2400" dirty="0">
                <a:latin typeface="Bahnschrift" panose="020B0502040204020203" pitchFamily="34" charset="0"/>
              </a:rPr>
              <a:t> com </a:t>
            </a:r>
            <a:r>
              <a:rPr lang="en-US" sz="2400" dirty="0" err="1">
                <a:latin typeface="Bahnschrift" panose="020B0502040204020203" pitchFamily="34" charset="0"/>
              </a:rPr>
              <a:t>quem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atingiu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maior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quantia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monetária</a:t>
            </a:r>
            <a:r>
              <a:rPr lang="en-US" sz="2400" dirty="0" smtClean="0">
                <a:latin typeface="Bahnschrift" panose="020B0502040204020203" pitchFamily="34" charset="0"/>
              </a:rPr>
              <a:t>.</a:t>
            </a:r>
          </a:p>
          <a:p>
            <a:r>
              <a:rPr lang="en-US" sz="2400" dirty="0" err="1" smtClean="0">
                <a:latin typeface="Bahnschrift" panose="020B0502040204020203" pitchFamily="34" charset="0"/>
              </a:rPr>
              <a:t>Devido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aos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limites</a:t>
            </a:r>
            <a:r>
              <a:rPr lang="en-US" sz="2400" dirty="0" smtClean="0">
                <a:latin typeface="Bahnschrift" panose="020B0502040204020203" pitchFamily="34" charset="0"/>
              </a:rPr>
              <a:t> de tempo para </a:t>
            </a:r>
            <a:r>
              <a:rPr lang="en-US" sz="2400" dirty="0" err="1" smtClean="0">
                <a:latin typeface="Bahnschrift" panose="020B0502040204020203" pitchFamily="34" charset="0"/>
              </a:rPr>
              <a:t>este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projeto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optarei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por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não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implementar</a:t>
            </a:r>
            <a:r>
              <a:rPr lang="en-US" sz="2400" dirty="0" smtClean="0">
                <a:latin typeface="Bahnschrift" panose="020B0502040204020203" pitchFamily="34" charset="0"/>
              </a:rPr>
              <a:t> o </a:t>
            </a:r>
            <a:r>
              <a:rPr lang="en-US" sz="2400" dirty="0" err="1" smtClean="0">
                <a:latin typeface="Bahnschrift" panose="020B0502040204020203" pitchFamily="34" charset="0"/>
              </a:rPr>
              <a:t>seguro</a:t>
            </a:r>
            <a:r>
              <a:rPr lang="en-US" sz="2400" dirty="0" smtClean="0">
                <a:latin typeface="Bahnschrift" panose="020B0502040204020203" pitchFamily="34" charset="0"/>
              </a:rPr>
              <a:t> no 21 do dealer </a:t>
            </a:r>
            <a:r>
              <a:rPr lang="en-US" sz="2400" dirty="0" err="1" smtClean="0">
                <a:latin typeface="Bahnschrift" panose="020B0502040204020203" pitchFamily="34" charset="0"/>
              </a:rPr>
              <a:t>visto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que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esta</a:t>
            </a:r>
            <a:r>
              <a:rPr lang="en-US" sz="2400" dirty="0" smtClean="0">
                <a:latin typeface="Bahnschrift" panose="020B0502040204020203" pitchFamily="34" charset="0"/>
              </a:rPr>
              <a:t> é </a:t>
            </a:r>
            <a:r>
              <a:rPr lang="en-US" sz="2400" dirty="0" err="1" smtClean="0">
                <a:latin typeface="Bahnschrift" panose="020B0502040204020203" pitchFamily="34" charset="0"/>
              </a:rPr>
              <a:t>muito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mais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difícil</a:t>
            </a:r>
            <a:r>
              <a:rPr lang="en-US" sz="2400" dirty="0" smtClean="0">
                <a:latin typeface="Bahnschrift" panose="020B0502040204020203" pitchFamily="34" charset="0"/>
              </a:rPr>
              <a:t> do </a:t>
            </a:r>
            <a:r>
              <a:rPr lang="en-US" sz="2400" dirty="0" err="1" smtClean="0">
                <a:latin typeface="Bahnschrift" panose="020B0502040204020203" pitchFamily="34" charset="0"/>
              </a:rPr>
              <a:t>que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parece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pois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possui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muitos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detalhes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não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mencionados</a:t>
            </a:r>
            <a:r>
              <a:rPr lang="en-US" sz="2400" dirty="0" smtClean="0">
                <a:latin typeface="Bahnschrift" panose="020B0502040204020203" pitchFamily="34" charset="0"/>
              </a:rPr>
              <a:t>, </a:t>
            </a:r>
            <a:r>
              <a:rPr lang="en-US" sz="2400" dirty="0" err="1" smtClean="0">
                <a:latin typeface="Bahnschrift" panose="020B0502040204020203" pitchFamily="34" charset="0"/>
              </a:rPr>
              <a:t>porém</a:t>
            </a:r>
            <a:r>
              <a:rPr lang="en-US" sz="2400" dirty="0" smtClean="0">
                <a:latin typeface="Bahnschrift" panose="020B0502040204020203" pitchFamily="34" charset="0"/>
              </a:rPr>
              <a:t> no </a:t>
            </a:r>
            <a:r>
              <a:rPr lang="en-US" sz="2400" dirty="0" err="1" smtClean="0">
                <a:latin typeface="Bahnschrift" panose="020B0502040204020203" pitchFamily="34" charset="0"/>
              </a:rPr>
              <a:t>caso</a:t>
            </a:r>
            <a:r>
              <a:rPr lang="en-US" sz="2400" dirty="0" smtClean="0">
                <a:latin typeface="Bahnschrift" panose="020B0502040204020203" pitchFamily="34" charset="0"/>
              </a:rPr>
              <a:t> de um </a:t>
            </a:r>
            <a:r>
              <a:rPr lang="en-US" sz="2400" dirty="0" err="1" smtClean="0">
                <a:latin typeface="Bahnschrift" panose="020B0502040204020203" pitchFamily="34" charset="0"/>
              </a:rPr>
              <a:t>desenvolvimento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rápido</a:t>
            </a:r>
            <a:r>
              <a:rPr lang="en-US" sz="2400" dirty="0" smtClean="0">
                <a:latin typeface="Bahnschrift" panose="020B0502040204020203" pitchFamily="34" charset="0"/>
              </a:rPr>
              <a:t> e </a:t>
            </a:r>
            <a:r>
              <a:rPr lang="en-US" sz="2400" dirty="0" err="1" smtClean="0">
                <a:latin typeface="Bahnschrift" panose="020B0502040204020203" pitchFamily="34" charset="0"/>
              </a:rPr>
              <a:t>eficaz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poderei</a:t>
            </a:r>
            <a:r>
              <a:rPr lang="en-US" sz="2400" dirty="0" smtClean="0">
                <a:latin typeface="Bahnschrift" panose="020B0502040204020203" pitchFamily="34" charset="0"/>
              </a:rPr>
              <a:t> considerer a </a:t>
            </a:r>
            <a:r>
              <a:rPr lang="en-US" sz="2400" dirty="0" err="1" smtClean="0">
                <a:latin typeface="Bahnschrift" panose="020B0502040204020203" pitchFamily="34" charset="0"/>
              </a:rPr>
              <a:t>implementação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deste</a:t>
            </a:r>
            <a:r>
              <a:rPr lang="en-US" sz="2400" dirty="0" smtClean="0">
                <a:latin typeface="Bahnschrift" panose="020B0502040204020203" pitchFamily="34" charset="0"/>
              </a:rPr>
              <a:t>. </a:t>
            </a:r>
            <a:r>
              <a:rPr lang="en-US" sz="2400" dirty="0" err="1" smtClean="0">
                <a:latin typeface="Bahnschrift" panose="020B0502040204020203" pitchFamily="34" charset="0"/>
              </a:rPr>
              <a:t>Optei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por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deixar</a:t>
            </a:r>
            <a:r>
              <a:rPr lang="en-US" sz="2400" dirty="0" smtClean="0">
                <a:latin typeface="Bahnschrift" panose="020B0502040204020203" pitchFamily="34" charset="0"/>
              </a:rPr>
              <a:t> de fora </a:t>
            </a:r>
            <a:r>
              <a:rPr lang="en-US" sz="2400" dirty="0" err="1" smtClean="0">
                <a:latin typeface="Bahnschrift" panose="020B0502040204020203" pitchFamily="34" charset="0"/>
              </a:rPr>
              <a:t>certas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funcionalidades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pois</a:t>
            </a:r>
            <a:r>
              <a:rPr lang="en-US" sz="2400" dirty="0" smtClean="0">
                <a:latin typeface="Bahnschrift" panose="020B0502040204020203" pitchFamily="34" charset="0"/>
              </a:rPr>
              <a:t> a </a:t>
            </a:r>
            <a:r>
              <a:rPr lang="en-US" sz="2400" dirty="0" err="1" smtClean="0">
                <a:latin typeface="Bahnschrift" panose="020B0502040204020203" pitchFamily="34" charset="0"/>
              </a:rPr>
              <a:t>meu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ver</a:t>
            </a:r>
            <a:r>
              <a:rPr lang="en-US" sz="2400" dirty="0" smtClean="0">
                <a:latin typeface="Bahnschrift" panose="020B0502040204020203" pitchFamily="34" charset="0"/>
              </a:rPr>
              <a:t> um </a:t>
            </a:r>
            <a:r>
              <a:rPr lang="en-US" sz="2400" dirty="0" err="1" smtClean="0">
                <a:latin typeface="Bahnschrift" panose="020B0502040204020203" pitchFamily="34" charset="0"/>
              </a:rPr>
              <a:t>jogo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que</a:t>
            </a:r>
            <a:r>
              <a:rPr lang="en-US" sz="2400" dirty="0" smtClean="0">
                <a:latin typeface="Bahnschrift" panose="020B0502040204020203" pitchFamily="34" charset="0"/>
              </a:rPr>
              <a:t> tem </a:t>
            </a:r>
            <a:r>
              <a:rPr lang="en-US" sz="2400" dirty="0" err="1" smtClean="0">
                <a:latin typeface="Bahnschrift" panose="020B0502040204020203" pitchFamily="34" charset="0"/>
              </a:rPr>
              <a:t>poucas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mecânicas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porém</a:t>
            </a:r>
            <a:r>
              <a:rPr lang="en-US" sz="2400" dirty="0" smtClean="0">
                <a:latin typeface="Bahnschrift" panose="020B0502040204020203" pitchFamily="34" charset="0"/>
              </a:rPr>
              <a:t> 100% </a:t>
            </a:r>
            <a:r>
              <a:rPr lang="en-US" sz="2400" dirty="0" err="1" smtClean="0">
                <a:latin typeface="Bahnschrift" panose="020B0502040204020203" pitchFamily="34" charset="0"/>
              </a:rPr>
              <a:t>funcionais</a:t>
            </a:r>
            <a:r>
              <a:rPr lang="en-US" sz="2400" dirty="0" smtClean="0">
                <a:latin typeface="Bahnschrift" panose="020B0502040204020203" pitchFamily="34" charset="0"/>
              </a:rPr>
              <a:t> é </a:t>
            </a:r>
            <a:r>
              <a:rPr lang="en-US" sz="2400" dirty="0" err="1" smtClean="0">
                <a:latin typeface="Bahnschrift" panose="020B0502040204020203" pitchFamily="34" charset="0"/>
              </a:rPr>
              <a:t>melhor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que</a:t>
            </a:r>
            <a:r>
              <a:rPr lang="en-US" sz="2400" dirty="0" smtClean="0">
                <a:latin typeface="Bahnschrift" panose="020B0502040204020203" pitchFamily="34" charset="0"/>
              </a:rPr>
              <a:t> um com </a:t>
            </a:r>
            <a:r>
              <a:rPr lang="en-US" sz="2400" dirty="0" err="1" smtClean="0">
                <a:latin typeface="Bahnschrift" panose="020B0502040204020203" pitchFamily="34" charset="0"/>
              </a:rPr>
              <a:t>muitas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mecânicas</a:t>
            </a:r>
            <a:r>
              <a:rPr lang="en-US" sz="2400" dirty="0" smtClean="0">
                <a:latin typeface="Bahnschrift" panose="020B0502040204020203" pitchFamily="34" charset="0"/>
              </a:rPr>
              <a:t> mas </a:t>
            </a:r>
            <a:r>
              <a:rPr lang="en-US" sz="2400" dirty="0" err="1" smtClean="0">
                <a:latin typeface="Bahnschrift" panose="020B0502040204020203" pitchFamily="34" charset="0"/>
              </a:rPr>
              <a:t>que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funcionam</a:t>
            </a:r>
            <a:r>
              <a:rPr lang="en-US" sz="2400" dirty="0" smtClean="0">
                <a:latin typeface="Bahnschrift" panose="020B0502040204020203" pitchFamily="34" charset="0"/>
              </a:rPr>
              <a:t> de forma </a:t>
            </a:r>
            <a:r>
              <a:rPr lang="en-US" sz="2400" dirty="0" err="1" smtClean="0">
                <a:latin typeface="Bahnschrift" panose="020B0502040204020203" pitchFamily="34" charset="0"/>
              </a:rPr>
              <a:t>ineficaz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ou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incoerente</a:t>
            </a:r>
            <a:r>
              <a:rPr lang="en-US" sz="2400" dirty="0" smtClean="0">
                <a:latin typeface="Bahnschrift" panose="020B0502040204020203" pitchFamily="34" charset="0"/>
              </a:rPr>
              <a:t>.</a:t>
            </a:r>
          </a:p>
          <a:p>
            <a:r>
              <a:rPr lang="en-US" sz="2400" dirty="0" smtClean="0">
                <a:latin typeface="Bahnschrift" panose="020B0502040204020203" pitchFamily="34" charset="0"/>
              </a:rPr>
              <a:t>Para as </a:t>
            </a:r>
            <a:r>
              <a:rPr lang="en-US" sz="2400" dirty="0" err="1" smtClean="0">
                <a:latin typeface="Bahnschrift" panose="020B0502040204020203" pitchFamily="34" charset="0"/>
              </a:rPr>
              <a:t>ações</a:t>
            </a:r>
            <a:r>
              <a:rPr lang="en-US" sz="2400" dirty="0" smtClean="0">
                <a:latin typeface="Bahnschrift" panose="020B0502040204020203" pitchFamily="34" charset="0"/>
              </a:rPr>
              <a:t> do dealer </a:t>
            </a:r>
            <a:r>
              <a:rPr lang="en-US" sz="2400" dirty="0" err="1" smtClean="0">
                <a:latin typeface="Bahnschrift" panose="020B0502040204020203" pitchFamily="34" charset="0"/>
              </a:rPr>
              <a:t>vou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implementar</a:t>
            </a:r>
            <a:r>
              <a:rPr lang="en-US" sz="2400" dirty="0" smtClean="0">
                <a:latin typeface="Bahnschrift" panose="020B0502040204020203" pitchFamily="34" charset="0"/>
              </a:rPr>
              <a:t> um </a:t>
            </a:r>
            <a:r>
              <a:rPr lang="en-US" sz="2400" dirty="0" err="1" smtClean="0">
                <a:latin typeface="Bahnschrift" panose="020B0502040204020203" pitchFamily="34" charset="0"/>
              </a:rPr>
              <a:t>algoritmo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que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analise</a:t>
            </a:r>
            <a:r>
              <a:rPr lang="en-US" sz="2400" dirty="0" smtClean="0">
                <a:latin typeface="Bahnschrift" panose="020B0502040204020203" pitchFamily="34" charset="0"/>
              </a:rPr>
              <a:t> as </a:t>
            </a:r>
            <a:r>
              <a:rPr lang="en-US" sz="2400" dirty="0" err="1" smtClean="0">
                <a:latin typeface="Bahnschrift" panose="020B0502040204020203" pitchFamily="34" charset="0"/>
              </a:rPr>
              <a:t>cartas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na</a:t>
            </a:r>
            <a:r>
              <a:rPr lang="en-US" sz="2400" dirty="0" smtClean="0">
                <a:latin typeface="Bahnschrift" panose="020B0502040204020203" pitchFamily="34" charset="0"/>
              </a:rPr>
              <a:t> mesa e </a:t>
            </a:r>
            <a:r>
              <a:rPr lang="en-US" sz="2400" dirty="0" err="1" smtClean="0">
                <a:latin typeface="Bahnschrift" panose="020B0502040204020203" pitchFamily="34" charset="0"/>
              </a:rPr>
              <a:t>descubra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qual</a:t>
            </a:r>
            <a:r>
              <a:rPr lang="en-US" sz="2400" dirty="0" smtClean="0">
                <a:latin typeface="Bahnschrift" panose="020B0502040204020203" pitchFamily="34" charset="0"/>
              </a:rPr>
              <a:t> a </a:t>
            </a:r>
            <a:r>
              <a:rPr lang="en-US" sz="2400" dirty="0" err="1" smtClean="0">
                <a:latin typeface="Bahnschrift" panose="020B0502040204020203" pitchFamily="34" charset="0"/>
              </a:rPr>
              <a:t>ação</a:t>
            </a:r>
            <a:r>
              <a:rPr lang="en-US" sz="2400" dirty="0" smtClean="0">
                <a:latin typeface="Bahnschrift" panose="020B0502040204020203" pitchFamily="34" charset="0"/>
              </a:rPr>
              <a:t> a </a:t>
            </a:r>
            <a:r>
              <a:rPr lang="en-US" sz="2400" dirty="0" err="1" smtClean="0">
                <a:latin typeface="Bahnschrift" panose="020B0502040204020203" pitchFamily="34" charset="0"/>
              </a:rPr>
              <a:t>ser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tomada</a:t>
            </a:r>
            <a:r>
              <a:rPr lang="en-US" sz="2400" dirty="0" smtClean="0">
                <a:latin typeface="Bahnschrift" panose="020B0502040204020203" pitchFamily="34" charset="0"/>
              </a:rPr>
              <a:t> , </a:t>
            </a:r>
            <a:r>
              <a:rPr lang="en-US" sz="2400" dirty="0" err="1" smtClean="0">
                <a:latin typeface="Bahnschrift" panose="020B0502040204020203" pitchFamily="34" charset="0"/>
              </a:rPr>
              <a:t>este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algoritmo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deverá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ter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alguma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aleatoriedade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em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certas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situações</a:t>
            </a:r>
            <a:r>
              <a:rPr lang="en-US" sz="2400" dirty="0" smtClean="0">
                <a:latin typeface="Bahnschrift" panose="020B0502040204020203" pitchFamily="34" charset="0"/>
              </a:rPr>
              <a:t>.</a:t>
            </a:r>
            <a:endParaRPr lang="pt-PT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0B6C1842-D59A-CAC7-9379-02DFEABBCBD1}"/>
              </a:ext>
            </a:extLst>
          </p:cNvPr>
          <p:cNvSpPr txBox="1"/>
          <p:nvPr/>
        </p:nvSpPr>
        <p:spPr>
          <a:xfrm>
            <a:off x="0" y="-276046"/>
            <a:ext cx="10550769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9600" dirty="0" smtClean="0">
                <a:solidFill>
                  <a:schemeClr val="accent6">
                    <a:lumMod val="75000"/>
                  </a:schemeClr>
                </a:solidFill>
                <a:latin typeface="Haettenschweiler" panose="020B0706040902060204" pitchFamily="34" charset="0"/>
                <a:ea typeface="STHupo"/>
              </a:rPr>
              <a:t>Resultados e </a:t>
            </a:r>
            <a:r>
              <a:rPr lang="en-US" sz="9600" dirty="0" err="1" smtClean="0">
                <a:solidFill>
                  <a:schemeClr val="accent6">
                    <a:lumMod val="75000"/>
                  </a:schemeClr>
                </a:solidFill>
                <a:latin typeface="Haettenschweiler" panose="020B0706040902060204" pitchFamily="34" charset="0"/>
                <a:ea typeface="STHupo"/>
              </a:rPr>
              <a:t>dificuldades</a:t>
            </a:r>
            <a:r>
              <a:rPr lang="en-US" sz="9600" dirty="0" smtClean="0">
                <a:solidFill>
                  <a:schemeClr val="accent6">
                    <a:lumMod val="75000"/>
                  </a:schemeClr>
                </a:solidFill>
                <a:latin typeface="Haettenschweiler" panose="020B0706040902060204" pitchFamily="34" charset="0"/>
                <a:ea typeface="STHupo"/>
              </a:rPr>
              <a:t> </a:t>
            </a:r>
            <a:r>
              <a:rPr lang="en-US" sz="9600" dirty="0" err="1" smtClean="0">
                <a:solidFill>
                  <a:schemeClr val="accent6">
                    <a:lumMod val="75000"/>
                  </a:schemeClr>
                </a:solidFill>
                <a:latin typeface="Haettenschweiler" panose="020B0706040902060204" pitchFamily="34" charset="0"/>
                <a:ea typeface="STHupo"/>
              </a:rPr>
              <a:t>esperadas</a:t>
            </a:r>
            <a:endParaRPr lang="pt-PT" sz="9600" dirty="0">
              <a:solidFill>
                <a:schemeClr val="accent6">
                  <a:lumMod val="75000"/>
                </a:schemeClr>
              </a:solidFill>
              <a:latin typeface="Haettenschweiler" panose="020B0706040902060204" pitchFamily="34" charset="0"/>
              <a:ea typeface="STHupo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251213" y="2770942"/>
            <a:ext cx="11324493" cy="267765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400" dirty="0" err="1" smtClean="0">
                <a:latin typeface="Bahnschrift" panose="020B0502040204020203" pitchFamily="34" charset="0"/>
              </a:rPr>
              <a:t>Espero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concluir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este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projeto</a:t>
            </a:r>
            <a:r>
              <a:rPr lang="en-US" sz="2400" dirty="0" smtClean="0">
                <a:latin typeface="Bahnschrift" panose="020B0502040204020203" pitchFamily="34" charset="0"/>
              </a:rPr>
              <a:t> com </a:t>
            </a:r>
            <a:r>
              <a:rPr lang="en-US" sz="2400" dirty="0" err="1" smtClean="0">
                <a:latin typeface="Bahnschrift" panose="020B0502040204020203" pitchFamily="34" charset="0"/>
              </a:rPr>
              <a:t>facilidade</a:t>
            </a:r>
            <a:r>
              <a:rPr lang="en-US" sz="2400" dirty="0" smtClean="0">
                <a:latin typeface="Bahnschrift" panose="020B0502040204020203" pitchFamily="34" charset="0"/>
              </a:rPr>
              <a:t> mas com </a:t>
            </a:r>
            <a:r>
              <a:rPr lang="en-US" sz="2400" dirty="0" err="1" smtClean="0">
                <a:latin typeface="Bahnschrift" panose="020B0502040204020203" pitchFamily="34" charset="0"/>
              </a:rPr>
              <a:t>demora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na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sua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produção</a:t>
            </a:r>
            <a:r>
              <a:rPr lang="en-US" sz="2400" dirty="0" smtClean="0">
                <a:latin typeface="Bahnschrift" panose="020B0502040204020203" pitchFamily="34" charset="0"/>
              </a:rPr>
              <a:t>. </a:t>
            </a:r>
            <a:r>
              <a:rPr lang="en-US" sz="2400" dirty="0" err="1" smtClean="0">
                <a:latin typeface="Bahnschrift" panose="020B0502040204020203" pitchFamily="34" charset="0"/>
              </a:rPr>
              <a:t>Acredito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que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vou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encontrar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dificuldades</a:t>
            </a:r>
            <a:r>
              <a:rPr lang="en-US" sz="2400" dirty="0" smtClean="0">
                <a:latin typeface="Bahnschrift" panose="020B0502040204020203" pitchFamily="34" charset="0"/>
              </a:rPr>
              <a:t> no </a:t>
            </a:r>
            <a:r>
              <a:rPr lang="en-US" sz="2400" dirty="0" err="1" smtClean="0">
                <a:latin typeface="Bahnschrift" panose="020B0502040204020203" pitchFamily="34" charset="0"/>
              </a:rPr>
              <a:t>sistema</a:t>
            </a:r>
            <a:r>
              <a:rPr lang="en-US" sz="2400" dirty="0" smtClean="0">
                <a:latin typeface="Bahnschrift" panose="020B0502040204020203" pitchFamily="34" charset="0"/>
              </a:rPr>
              <a:t> de </a:t>
            </a:r>
            <a:r>
              <a:rPr lang="en-US" sz="2400" dirty="0" err="1" smtClean="0">
                <a:latin typeface="Bahnschrift" panose="020B0502040204020203" pitchFamily="34" charset="0"/>
              </a:rPr>
              <a:t>distribuição</a:t>
            </a:r>
            <a:r>
              <a:rPr lang="en-US" sz="2400" dirty="0" smtClean="0">
                <a:latin typeface="Bahnschrift" panose="020B0502040204020203" pitchFamily="34" charset="0"/>
              </a:rPr>
              <a:t> de </a:t>
            </a:r>
            <a:r>
              <a:rPr lang="en-US" sz="2400" dirty="0" err="1" smtClean="0">
                <a:latin typeface="Bahnschrift" panose="020B0502040204020203" pitchFamily="34" charset="0"/>
              </a:rPr>
              <a:t>cartas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visto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que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este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pode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ser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realizado</a:t>
            </a:r>
            <a:r>
              <a:rPr lang="en-US" sz="2400" dirty="0" smtClean="0">
                <a:latin typeface="Bahnschrift" panose="020B0502040204020203" pitchFamily="34" charset="0"/>
              </a:rPr>
              <a:t> de </a:t>
            </a:r>
            <a:r>
              <a:rPr lang="en-US" sz="2400" dirty="0" err="1" smtClean="0">
                <a:latin typeface="Bahnschrift" panose="020B0502040204020203" pitchFamily="34" charset="0"/>
              </a:rPr>
              <a:t>diversas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maneiras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diferentes</a:t>
            </a:r>
            <a:r>
              <a:rPr lang="en-US" sz="2400" dirty="0" smtClean="0">
                <a:latin typeface="Bahnschrift" panose="020B0502040204020203" pitchFamily="34" charset="0"/>
              </a:rPr>
              <a:t> e a </a:t>
            </a:r>
            <a:r>
              <a:rPr lang="en-US" sz="2400" dirty="0" err="1" smtClean="0">
                <a:latin typeface="Bahnschrift" panose="020B0502040204020203" pitchFamily="34" charset="0"/>
              </a:rPr>
              <a:t>decisão</a:t>
            </a:r>
            <a:r>
              <a:rPr lang="en-US" sz="2400" dirty="0" smtClean="0">
                <a:latin typeface="Bahnschrift" panose="020B0502040204020203" pitchFamily="34" charset="0"/>
              </a:rPr>
              <a:t> de </a:t>
            </a:r>
            <a:r>
              <a:rPr lang="en-US" sz="2400" dirty="0" err="1" smtClean="0">
                <a:latin typeface="Bahnschrift" panose="020B0502040204020203" pitchFamily="34" charset="0"/>
              </a:rPr>
              <a:t>qual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usar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poderá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ser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demorada</a:t>
            </a:r>
            <a:r>
              <a:rPr lang="en-US" sz="2400" dirty="0" smtClean="0">
                <a:latin typeface="Bahnschrift" panose="020B0502040204020203" pitchFamily="34" charset="0"/>
              </a:rPr>
              <a:t> e </a:t>
            </a:r>
            <a:r>
              <a:rPr lang="en-US" sz="2400" dirty="0" err="1" smtClean="0">
                <a:latin typeface="Bahnschrift" panose="020B0502040204020203" pitchFamily="34" charset="0"/>
              </a:rPr>
              <a:t>difícil</a:t>
            </a:r>
            <a:r>
              <a:rPr lang="en-US" sz="2400" dirty="0" smtClean="0">
                <a:latin typeface="Bahnschrift" panose="020B0502040204020203" pitchFamily="34" charset="0"/>
              </a:rPr>
              <a:t>, </a:t>
            </a:r>
            <a:r>
              <a:rPr lang="en-US" sz="2400" dirty="0" err="1" smtClean="0">
                <a:latin typeface="Bahnschrift" panose="020B0502040204020203" pitchFamily="34" charset="0"/>
              </a:rPr>
              <a:t>acredito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também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que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encontrarei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pequnos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problemas</a:t>
            </a:r>
            <a:r>
              <a:rPr lang="en-US" sz="2400" dirty="0" smtClean="0">
                <a:latin typeface="Bahnschrift" panose="020B0502040204020203" pitchFamily="34" charset="0"/>
              </a:rPr>
              <a:t> com </a:t>
            </a:r>
            <a:r>
              <a:rPr lang="en-US" sz="2400" dirty="0" err="1" smtClean="0">
                <a:latin typeface="Bahnschrift" panose="020B0502040204020203" pitchFamily="34" charset="0"/>
              </a:rPr>
              <a:t>coerência</a:t>
            </a:r>
            <a:r>
              <a:rPr lang="en-US" sz="2400" dirty="0" smtClean="0">
                <a:latin typeface="Bahnschrift" panose="020B0502040204020203" pitchFamily="34" charset="0"/>
              </a:rPr>
              <a:t> do </a:t>
            </a:r>
            <a:r>
              <a:rPr lang="en-US" sz="2400" dirty="0" err="1" smtClean="0">
                <a:latin typeface="Bahnschrift" panose="020B0502040204020203" pitchFamily="34" charset="0"/>
              </a:rPr>
              <a:t>código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durante</a:t>
            </a:r>
            <a:r>
              <a:rPr lang="en-US" sz="2400" dirty="0" smtClean="0">
                <a:latin typeface="Bahnschrift" panose="020B0502040204020203" pitchFamily="34" charset="0"/>
              </a:rPr>
              <a:t> a </a:t>
            </a:r>
            <a:r>
              <a:rPr lang="en-US" sz="2400" dirty="0" err="1" smtClean="0">
                <a:latin typeface="Bahnschrift" panose="020B0502040204020203" pitchFamily="34" charset="0"/>
              </a:rPr>
              <a:t>sua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implementação</a:t>
            </a:r>
            <a:r>
              <a:rPr lang="en-US" sz="2400" dirty="0" smtClean="0">
                <a:latin typeface="Bahnschrift" panose="020B0502040204020203" pitchFamily="34" charset="0"/>
              </a:rPr>
              <a:t> e </a:t>
            </a:r>
            <a:r>
              <a:rPr lang="en-US" sz="2400" dirty="0" err="1" smtClean="0">
                <a:latin typeface="Bahnschrift" panose="020B0502040204020203" pitchFamily="34" charset="0"/>
              </a:rPr>
              <a:t>dificuldade</a:t>
            </a:r>
            <a:r>
              <a:rPr lang="en-US" sz="2400" dirty="0" smtClean="0">
                <a:latin typeface="Bahnschrift" panose="020B0502040204020203" pitchFamily="34" charset="0"/>
              </a:rPr>
              <a:t> a </a:t>
            </a:r>
            <a:r>
              <a:rPr lang="en-US" sz="2400" dirty="0" err="1" smtClean="0">
                <a:latin typeface="Bahnschrift" panose="020B0502040204020203" pitchFamily="34" charset="0"/>
              </a:rPr>
              <a:t>desenvolver</a:t>
            </a:r>
            <a:r>
              <a:rPr lang="en-US" sz="2400" dirty="0" smtClean="0">
                <a:latin typeface="Bahnschrift" panose="020B0502040204020203" pitchFamily="34" charset="0"/>
              </a:rPr>
              <a:t> um </a:t>
            </a:r>
            <a:r>
              <a:rPr lang="en-US" sz="2400" dirty="0" err="1" smtClean="0">
                <a:latin typeface="Bahnschrift" panose="020B0502040204020203" pitchFamily="34" charset="0"/>
              </a:rPr>
              <a:t>algoritmo</a:t>
            </a:r>
            <a:r>
              <a:rPr lang="en-US" sz="2400" dirty="0" smtClean="0">
                <a:latin typeface="Bahnschrift" panose="020B0502040204020203" pitchFamily="34" charset="0"/>
              </a:rPr>
              <a:t> para o dealer </a:t>
            </a:r>
            <a:r>
              <a:rPr lang="en-US" sz="2400" dirty="0" err="1" smtClean="0">
                <a:latin typeface="Bahnschrift" panose="020B0502040204020203" pitchFamily="34" charset="0"/>
              </a:rPr>
              <a:t>que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seja</a:t>
            </a:r>
            <a:r>
              <a:rPr lang="en-US" sz="2400" dirty="0" smtClean="0">
                <a:latin typeface="Bahnschrift" panose="020B0502040204020203" pitchFamily="34" charset="0"/>
              </a:rPr>
              <a:t> </a:t>
            </a:r>
            <a:r>
              <a:rPr lang="en-US" sz="2400" dirty="0" err="1" smtClean="0">
                <a:latin typeface="Bahnschrift" panose="020B0502040204020203" pitchFamily="34" charset="0"/>
              </a:rPr>
              <a:t>equilibrado</a:t>
            </a:r>
            <a:r>
              <a:rPr lang="en-US" sz="2400" dirty="0" smtClean="0">
                <a:latin typeface="Bahnschrift" panose="020B0502040204020203" pitchFamily="34" charset="0"/>
              </a:rPr>
              <a:t> e </a:t>
            </a:r>
            <a:r>
              <a:rPr lang="en-US" sz="2400" dirty="0" err="1" smtClean="0">
                <a:latin typeface="Bahnschrift" panose="020B0502040204020203" pitchFamily="34" charset="0"/>
              </a:rPr>
              <a:t>lógico</a:t>
            </a:r>
            <a:r>
              <a:rPr lang="en-US" sz="2400" dirty="0" smtClean="0">
                <a:latin typeface="Bahnschrift" panose="020B0502040204020203" pitchFamily="34" charset="0"/>
              </a:rPr>
              <a:t>.</a:t>
            </a:r>
            <a:endParaRPr lang="pt-PT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232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0B6C1842-D59A-CAC7-9379-02DFEABBCBD1}"/>
              </a:ext>
            </a:extLst>
          </p:cNvPr>
          <p:cNvSpPr txBox="1"/>
          <p:nvPr/>
        </p:nvSpPr>
        <p:spPr>
          <a:xfrm>
            <a:off x="0" y="-276046"/>
            <a:ext cx="1055076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9600" dirty="0" smtClean="0">
                <a:solidFill>
                  <a:schemeClr val="accent3">
                    <a:lumMod val="75000"/>
                  </a:schemeClr>
                </a:solidFill>
                <a:latin typeface="Haettenschweiler" panose="020B0706040902060204" pitchFamily="34" charset="0"/>
                <a:ea typeface="STHupo"/>
              </a:rPr>
              <a:t>Bibliografia</a:t>
            </a:r>
            <a:endParaRPr lang="pt-PT" sz="9600" dirty="0">
              <a:solidFill>
                <a:schemeClr val="accent3">
                  <a:lumMod val="75000"/>
                </a:schemeClr>
              </a:solidFill>
              <a:latin typeface="Haettenschweiler" panose="020B0706040902060204" pitchFamily="34" charset="0"/>
              <a:ea typeface="STHupo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251212" y="1293614"/>
            <a:ext cx="11324493" cy="83099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>
                <a:latin typeface="Bahnschrift" panose="020B0502040204020203" pitchFamily="34" charset="0"/>
                <a:hlinkClick r:id="rId2"/>
              </a:rPr>
              <a:t>https://</a:t>
            </a:r>
            <a:r>
              <a:rPr lang="pt-PT" sz="2400" dirty="0" smtClean="0">
                <a:latin typeface="Bahnschrift" panose="020B0502040204020203" pitchFamily="34" charset="0"/>
                <a:hlinkClick r:id="rId2"/>
              </a:rPr>
              <a:t>en.wikipedia.org/wiki/Blackjack</a:t>
            </a:r>
            <a:endParaRPr lang="pt-PT" sz="2400" dirty="0" smtClean="0"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>
                <a:latin typeface="Bahnschrift" panose="020B0502040204020203" pitchFamily="34" charset="0"/>
                <a:hlinkClick r:id="rId3"/>
              </a:rPr>
              <a:t>https://news.williamhill.com/casino-guides/blackjack-insurance</a:t>
            </a:r>
            <a:r>
              <a:rPr lang="pt-PT" sz="2400" dirty="0" smtClean="0">
                <a:latin typeface="Bahnschrift" panose="020B0502040204020203" pitchFamily="34" charset="0"/>
                <a:hlinkClick r:id="rId3"/>
              </a:rPr>
              <a:t>/</a:t>
            </a:r>
            <a:endParaRPr lang="pt-PT" sz="2400" dirty="0" smtClean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05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700</Words>
  <Application>Microsoft Office PowerPoint</Application>
  <PresentationFormat>Ecrã Panorâmico</PresentationFormat>
  <Paragraphs>28</Paragraphs>
  <Slides>7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9" baseType="lpstr">
      <vt:lpstr>ADLaM Display</vt:lpstr>
      <vt:lpstr>Aharoni</vt:lpstr>
      <vt:lpstr>Aptos</vt:lpstr>
      <vt:lpstr>Aptos Display</vt:lpstr>
      <vt:lpstr>Arial</vt:lpstr>
      <vt:lpstr>Arial Rounded MT Bold</vt:lpstr>
      <vt:lpstr>Bahnschrift</vt:lpstr>
      <vt:lpstr>Bauhaus 93</vt:lpstr>
      <vt:lpstr>Calibri</vt:lpstr>
      <vt:lpstr>Haettenschweiler</vt:lpstr>
      <vt:lpstr>STHupo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>User</cp:lastModifiedBy>
  <cp:revision>122</cp:revision>
  <dcterms:created xsi:type="dcterms:W3CDTF">2025-11-19T10:19:19Z</dcterms:created>
  <dcterms:modified xsi:type="dcterms:W3CDTF">2025-11-23T15:30:03Z</dcterms:modified>
</cp:coreProperties>
</file>